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72" r:id="rId1"/>
  </p:sldMasterIdLst>
  <p:notesMasterIdLst>
    <p:notesMasterId r:id="rId14"/>
  </p:notesMasterIdLst>
  <p:handoutMasterIdLst>
    <p:handoutMasterId r:id="rId15"/>
  </p:handoutMasterIdLst>
  <p:sldIdLst>
    <p:sldId id="256" r:id="rId2"/>
    <p:sldId id="258" r:id="rId3"/>
    <p:sldId id="282" r:id="rId4"/>
    <p:sldId id="274" r:id="rId5"/>
    <p:sldId id="283" r:id="rId6"/>
    <p:sldId id="284" r:id="rId7"/>
    <p:sldId id="294" r:id="rId8"/>
    <p:sldId id="293" r:id="rId9"/>
    <p:sldId id="269" r:id="rId10"/>
    <p:sldId id="270" r:id="rId11"/>
    <p:sldId id="271" r:id="rId12"/>
    <p:sldId id="295" r:id="rId13"/>
  </p:sldIdLst>
  <p:sldSz cx="18288000" cy="10287000"/>
  <p:notesSz cx="6858000" cy="9144000"/>
  <p:embeddedFontLst>
    <p:embeddedFont>
      <p:font typeface="Arial Black" panose="020B0A04020102020204" pitchFamily="34" charset="0"/>
      <p:bold r:id="rId16"/>
    </p:embeddedFont>
    <p:embeddedFont>
      <p:font typeface="Canva Sans" panose="020B0604020202020204" charset="0"/>
      <p:regular r:id="rId1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CEEF474-2C73-4A05-9634-B905A8DFE39A}" v="95" dt="2026-06-08T15:16:17.566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28" autoAdjust="0"/>
    <p:restoredTop sz="94622" autoAdjust="0"/>
  </p:normalViewPr>
  <p:slideViewPr>
    <p:cSldViewPr>
      <p:cViewPr varScale="1">
        <p:scale>
          <a:sx n="52" d="100"/>
          <a:sy n="52" d="100"/>
        </p:scale>
        <p:origin x="629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6DA97A0-E165-AC58-9B36-BA7BB4F7CEA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A7D99D-C451-6C6C-F7B8-2BB5D393E4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B13BE1-84D1-4153-8EF8-3BC4714FA7E5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260D15-66B2-A7D6-1DD4-161E0352C7B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5B8107-C644-E70A-455E-83F8885DF08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C8BEA4-3722-4E40-8969-95F548E02A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419119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4E0C07-4ECA-4CAF-BF9B-CE69E0EBBAF3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40CA88-6CBC-4381-9999-2D560C378F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86994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035CC3-2836-14CD-3FC0-FC6C2AD989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40CA88-6CBC-4381-9999-2D560C378F9D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64759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0A3FF2-8B0E-7109-5D39-E6A4CF54F4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40CA88-6CBC-4381-9999-2D560C378F9D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79256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</p:spPr>
        <p:txBody>
          <a:bodyPr anchor="b"/>
          <a:lstStyle>
            <a:lvl1pPr algn="ctr">
              <a:defRPr sz="9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</p:spPr>
        <p:txBody>
          <a:bodyPr/>
          <a:lstStyle>
            <a:lvl1pPr marL="0" indent="0" algn="ctr">
              <a:buNone/>
              <a:defRPr sz="36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B7AE8-D885-4584-A5A8-14F6625B4D3D}" type="datetime1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196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6E964-6B4F-45B6-852F-24972C15092A}" type="datetime1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090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7775" y="2564608"/>
            <a:ext cx="15773400" cy="4279106"/>
          </a:xfrm>
        </p:spPr>
        <p:txBody>
          <a:bodyPr anchor="b"/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7775" y="6884195"/>
            <a:ext cx="15773400" cy="2250281"/>
          </a:xfrm>
        </p:spPr>
        <p:txBody>
          <a:bodyPr/>
          <a:lstStyle>
            <a:lvl1pPr marL="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1pPr>
            <a:lvl2pPr marL="685800" indent="0">
              <a:buNone/>
              <a:defRPr sz="3000">
                <a:solidFill>
                  <a:schemeClr val="tx1">
                    <a:tint val="82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82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89D42-946A-434D-A79B-D9D4BF5FD208}" type="datetime1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7803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8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410FE-A5DE-44A8-9610-86B02ABF0D42}" type="datetime1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7460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547688"/>
            <a:ext cx="15773400" cy="198834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9683" y="2521745"/>
            <a:ext cx="7736681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9683" y="3757613"/>
            <a:ext cx="7736681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58300" y="2521745"/>
            <a:ext cx="7774782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4782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FFBE4-D36E-4C9D-907F-8D44A2619840}" type="datetime1">
              <a:rPr lang="en-US" smtClean="0"/>
              <a:t>7/23/2026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1716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63923-89E7-4AE5-9F6A-B0F5AE0CAEAC}" type="datetime1">
              <a:rPr lang="en-US" smtClean="0"/>
              <a:t>7/23/2026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7568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688FA-665E-4582-88F3-42CEC83C15C0}" type="datetime1">
              <a:rPr lang="en-US" smtClean="0"/>
              <a:t>7/23/2026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5258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5DCFB-3279-4B72-AE30-BB9D4C44FBA5}" type="datetime1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5394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774782" y="1481138"/>
            <a:ext cx="9258300" cy="7310438"/>
          </a:xfrm>
        </p:spPr>
        <p:txBody>
          <a:bodyPr anchor="t"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8D71C-5440-4494-B8A1-CE439D859C5F}" type="datetime1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0436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11757-7FED-4A50-88D3-AF943CEA58B0}" type="datetime1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562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775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01450" cy="871775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492F5-E066-44F9-AD2F-B2978635BC8F}" type="datetime1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212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665E6C-E8DA-45FC-9E06-08A22CB19031}" type="datetime1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894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9"/>
          <p:cNvSpPr/>
          <p:nvPr/>
        </p:nvSpPr>
        <p:spPr>
          <a:xfrm>
            <a:off x="1143000" y="573147"/>
            <a:ext cx="16029036" cy="1455037"/>
          </a:xfrm>
          <a:custGeom>
            <a:avLst/>
            <a:gdLst/>
            <a:ahLst/>
            <a:cxnLst/>
            <a:rect l="l" t="t" r="r" b="b"/>
            <a:pathLst>
              <a:path w="11301259" h="1455037">
                <a:moveTo>
                  <a:pt x="0" y="0"/>
                </a:moveTo>
                <a:lnTo>
                  <a:pt x="11301259" y="0"/>
                </a:lnTo>
                <a:lnTo>
                  <a:pt x="11301259" y="1455037"/>
                </a:lnTo>
                <a:lnTo>
                  <a:pt x="0" y="14550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3" name="TextBox 13"/>
          <p:cNvSpPr txBox="1"/>
          <p:nvPr/>
        </p:nvSpPr>
        <p:spPr>
          <a:xfrm>
            <a:off x="3442518" y="5169757"/>
            <a:ext cx="10488564" cy="15593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b="1" dirty="0"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CLOUD COMPUTING AND BIT DATA ANALYSIS CSA1507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CEEE17D-B4B6-ABFA-CEC5-99EF084C8B3D}"/>
              </a:ext>
            </a:extLst>
          </p:cNvPr>
          <p:cNvSpPr txBox="1"/>
          <p:nvPr/>
        </p:nvSpPr>
        <p:spPr>
          <a:xfrm>
            <a:off x="2362200" y="3346109"/>
            <a:ext cx="1414616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800" dirty="0">
                <a:solidFill>
                  <a:srgbClr val="002060"/>
                </a:solidFill>
                <a:latin typeface="Arial Black" panose="020B0A04020102020204" pitchFamily="34" charset="0"/>
              </a:rPr>
              <a:t>CLOUD SECURITY FUNDAMENTALS: PROTECTING DATA AND APPLICATIONS</a:t>
            </a:r>
            <a:endParaRPr lang="en-IN" sz="4800" b="1" dirty="0">
              <a:solidFill>
                <a:srgbClr val="002060"/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F4D0B7-9290-F83E-92FA-1275B6717A33}"/>
              </a:ext>
            </a:extLst>
          </p:cNvPr>
          <p:cNvSpPr txBox="1"/>
          <p:nvPr/>
        </p:nvSpPr>
        <p:spPr>
          <a:xfrm>
            <a:off x="762000" y="8267303"/>
            <a:ext cx="4953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GUIDED BY :</a:t>
            </a:r>
          </a:p>
          <a:p>
            <a:r>
              <a:rPr lang="en-US" dirty="0"/>
              <a:t>                   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Dr </a:t>
            </a:r>
            <a:r>
              <a:rPr lang="en-US" dirty="0"/>
              <a:t>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ANURADHA C</a:t>
            </a:r>
            <a:endParaRPr lang="en-IN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9D3C24-9011-8BA5-B815-A4C6DF8AB53D}"/>
              </a:ext>
            </a:extLst>
          </p:cNvPr>
          <p:cNvSpPr txBox="1"/>
          <p:nvPr/>
        </p:nvSpPr>
        <p:spPr>
          <a:xfrm>
            <a:off x="10820400" y="8267303"/>
            <a:ext cx="1008543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PRESENTED BY :</a:t>
            </a:r>
          </a:p>
          <a:p>
            <a:r>
              <a:rPr lang="en-US" dirty="0"/>
              <a:t>                                   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ARUNPANDIAN K(192511086)</a:t>
            </a:r>
          </a:p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                MANU NEETHI S(192521063)</a:t>
            </a:r>
            <a:endParaRPr lang="en-IN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334000" y="871780"/>
            <a:ext cx="8988399" cy="10683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9043"/>
              </a:lnSpc>
              <a:spcBef>
                <a:spcPct val="0"/>
              </a:spcBef>
            </a:pPr>
            <a:r>
              <a:rPr lang="en-IN" sz="6000" dirty="0">
                <a:latin typeface="Arial Black" panose="020B0A04020102020204" pitchFamily="34" charset="0"/>
                <a:cs typeface="Arial" panose="020B0604020202020204" pitchFamily="34" charset="0"/>
              </a:rPr>
              <a:t>INTRODUCTION</a:t>
            </a:r>
            <a:endParaRPr lang="en-US" sz="6000" u="none" strike="noStrike" spc="83" dirty="0">
              <a:solidFill>
                <a:srgbClr val="000000"/>
              </a:solidFill>
              <a:latin typeface="Arial Black" panose="020B0A04020102020204" pitchFamily="34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10" name="Freeform 10"/>
          <p:cNvSpPr/>
          <p:nvPr/>
        </p:nvSpPr>
        <p:spPr>
          <a:xfrm>
            <a:off x="16437013" y="-21740"/>
            <a:ext cx="1644573" cy="1787041"/>
          </a:xfrm>
          <a:custGeom>
            <a:avLst/>
            <a:gdLst/>
            <a:ahLst/>
            <a:cxnLst/>
            <a:rect l="l" t="t" r="r" b="b"/>
            <a:pathLst>
              <a:path w="1644573" h="1787041">
                <a:moveTo>
                  <a:pt x="0" y="0"/>
                </a:moveTo>
                <a:lnTo>
                  <a:pt x="1644574" y="0"/>
                </a:lnTo>
                <a:lnTo>
                  <a:pt x="1644574" y="1787041"/>
                </a:lnTo>
                <a:lnTo>
                  <a:pt x="0" y="17870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>
          <a:xfrm>
            <a:off x="-598564" y="58148"/>
            <a:ext cx="3254529" cy="1627264"/>
          </a:xfrm>
          <a:custGeom>
            <a:avLst/>
            <a:gdLst/>
            <a:ahLst/>
            <a:cxnLst/>
            <a:rect l="l" t="t" r="r" b="b"/>
            <a:pathLst>
              <a:path w="3254529" h="1627264">
                <a:moveTo>
                  <a:pt x="0" y="0"/>
                </a:moveTo>
                <a:lnTo>
                  <a:pt x="3254528" y="0"/>
                </a:lnTo>
                <a:lnTo>
                  <a:pt x="3254528" y="1627264"/>
                </a:lnTo>
                <a:lnTo>
                  <a:pt x="0" y="16272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B52A0C55-59A9-3AD7-1AB0-A7B151905A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55865" y="2929774"/>
            <a:ext cx="15174835" cy="61863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71500" indent="-571500">
              <a:buFont typeface="Wingdings" panose="05000000000000000000" pitchFamily="2" charset="2"/>
              <a:buChar char="§"/>
            </a:pPr>
            <a:r>
              <a:rPr lang="en-IN" sz="3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Cloud Computing Provides Scalable And Cost-Effective Digital Infrastructure Services. </a:t>
            </a:r>
          </a:p>
          <a:p>
            <a:pPr marL="571500" indent="-571500">
              <a:buFont typeface="Wingdings" panose="05000000000000000000" pitchFamily="2" charset="2"/>
              <a:buChar char="§"/>
            </a:pPr>
            <a:endParaRPr lang="en-IN" sz="36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buFont typeface="Wingdings" panose="05000000000000000000" pitchFamily="2" charset="2"/>
              <a:buChar char="§"/>
            </a:pPr>
            <a:r>
              <a:rPr lang="en-IN" sz="3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Cloud Security Protects Data, Applications, And Network Resources Effectively. </a:t>
            </a:r>
          </a:p>
          <a:p>
            <a:pPr marL="571500" indent="-571500">
              <a:buFont typeface="Wingdings" panose="05000000000000000000" pitchFamily="2" charset="2"/>
              <a:buChar char="§"/>
            </a:pPr>
            <a:endParaRPr lang="en-IN" sz="36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buFont typeface="Wingdings" panose="05000000000000000000" pitchFamily="2" charset="2"/>
              <a:buChar char="§"/>
            </a:pPr>
            <a:r>
              <a:rPr lang="en-IN" sz="3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Security Ensures Confidentiality, Integrity, And Availability Of Cloud Environments. </a:t>
            </a:r>
          </a:p>
          <a:p>
            <a:pPr marL="571500" indent="-571500">
              <a:buFont typeface="Wingdings" panose="05000000000000000000" pitchFamily="2" charset="2"/>
              <a:buChar char="§"/>
            </a:pPr>
            <a:endParaRPr lang="en-IN" sz="36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buFont typeface="Wingdings" panose="05000000000000000000" pitchFamily="2" charset="2"/>
              <a:buChar char="§"/>
            </a:pPr>
            <a:r>
              <a:rPr lang="en-IN" sz="3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Strong Security Minimizes Cyberattacks And Unauthorized Data Access.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4E8FD4-AAE6-7682-A7AC-FE2C28901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1BD9380-5D1C-42FC-7AF9-04B94F188F73}"/>
              </a:ext>
            </a:extLst>
          </p:cNvPr>
          <p:cNvSpPr txBox="1"/>
          <p:nvPr/>
        </p:nvSpPr>
        <p:spPr>
          <a:xfrm>
            <a:off x="4231190" y="1028177"/>
            <a:ext cx="10591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400" b="1" dirty="0">
                <a:latin typeface="Arial Black" panose="020B0A04020102020204" pitchFamily="34" charset="0"/>
                <a:cs typeface="Arial" panose="020B0604020202020204" pitchFamily="34" charset="0"/>
              </a:rPr>
              <a:t>LITERATURE SURVEY</a:t>
            </a:r>
          </a:p>
        </p:txBody>
      </p:sp>
      <p:sp>
        <p:nvSpPr>
          <p:cNvPr id="5" name="Freeform 7">
            <a:extLst>
              <a:ext uri="{FF2B5EF4-FFF2-40B4-BE49-F238E27FC236}">
                <a16:creationId xmlns:a16="http://schemas.microsoft.com/office/drawing/2014/main" id="{8B643E56-5BAC-A530-6ADC-4986B4B85D83}"/>
              </a:ext>
            </a:extLst>
          </p:cNvPr>
          <p:cNvSpPr/>
          <p:nvPr/>
        </p:nvSpPr>
        <p:spPr>
          <a:xfrm>
            <a:off x="-838200" y="104049"/>
            <a:ext cx="3254529" cy="1627264"/>
          </a:xfrm>
          <a:custGeom>
            <a:avLst/>
            <a:gdLst/>
            <a:ahLst/>
            <a:cxnLst/>
            <a:rect l="l" t="t" r="r" b="b"/>
            <a:pathLst>
              <a:path w="3254529" h="1627264">
                <a:moveTo>
                  <a:pt x="0" y="0"/>
                </a:moveTo>
                <a:lnTo>
                  <a:pt x="3254528" y="0"/>
                </a:lnTo>
                <a:lnTo>
                  <a:pt x="3254528" y="1627264"/>
                </a:lnTo>
                <a:lnTo>
                  <a:pt x="0" y="16272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Freeform 8">
            <a:extLst>
              <a:ext uri="{FF2B5EF4-FFF2-40B4-BE49-F238E27FC236}">
                <a16:creationId xmlns:a16="http://schemas.microsoft.com/office/drawing/2014/main" id="{022130C4-BDF0-996D-86E6-982EE1540E67}"/>
              </a:ext>
            </a:extLst>
          </p:cNvPr>
          <p:cNvSpPr/>
          <p:nvPr/>
        </p:nvSpPr>
        <p:spPr>
          <a:xfrm>
            <a:off x="16637851" y="24161"/>
            <a:ext cx="1644573" cy="1787041"/>
          </a:xfrm>
          <a:custGeom>
            <a:avLst/>
            <a:gdLst/>
            <a:ahLst/>
            <a:cxnLst/>
            <a:rect l="l" t="t" r="r" b="b"/>
            <a:pathLst>
              <a:path w="1644573" h="1787041">
                <a:moveTo>
                  <a:pt x="0" y="0"/>
                </a:moveTo>
                <a:lnTo>
                  <a:pt x="1644574" y="0"/>
                </a:lnTo>
                <a:lnTo>
                  <a:pt x="1644574" y="1787041"/>
                </a:lnTo>
                <a:lnTo>
                  <a:pt x="0" y="17870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01A652C-A6AA-2EAE-53B3-5FB4E3EB2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2A587856-3F02-A4D6-89CA-F7A6EB19CD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1133575"/>
              </p:ext>
            </p:extLst>
          </p:nvPr>
        </p:nvGraphicFramePr>
        <p:xfrm>
          <a:off x="990600" y="2171700"/>
          <a:ext cx="16230600" cy="7412094"/>
        </p:xfrm>
        <a:graphic>
          <a:graphicData uri="http://schemas.openxmlformats.org/drawingml/2006/table">
            <a:tbl>
              <a:tblPr>
                <a:tableStyleId>{0505E3EF-67EA-436B-97B2-0124C06EBD24}</a:tableStyleId>
              </a:tblPr>
              <a:tblGrid>
                <a:gridCol w="4057650">
                  <a:extLst>
                    <a:ext uri="{9D8B030D-6E8A-4147-A177-3AD203B41FA5}">
                      <a16:colId xmlns:a16="http://schemas.microsoft.com/office/drawing/2014/main" val="2712028244"/>
                    </a:ext>
                  </a:extLst>
                </a:gridCol>
                <a:gridCol w="4057650">
                  <a:extLst>
                    <a:ext uri="{9D8B030D-6E8A-4147-A177-3AD203B41FA5}">
                      <a16:colId xmlns:a16="http://schemas.microsoft.com/office/drawing/2014/main" val="2716081519"/>
                    </a:ext>
                  </a:extLst>
                </a:gridCol>
                <a:gridCol w="4057650">
                  <a:extLst>
                    <a:ext uri="{9D8B030D-6E8A-4147-A177-3AD203B41FA5}">
                      <a16:colId xmlns:a16="http://schemas.microsoft.com/office/drawing/2014/main" val="4105846430"/>
                    </a:ext>
                  </a:extLst>
                </a:gridCol>
                <a:gridCol w="4057650">
                  <a:extLst>
                    <a:ext uri="{9D8B030D-6E8A-4147-A177-3AD203B41FA5}">
                      <a16:colId xmlns:a16="http://schemas.microsoft.com/office/drawing/2014/main" val="4102047913"/>
                    </a:ext>
                  </a:extLst>
                </a:gridCol>
              </a:tblGrid>
              <a:tr h="5009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YEAR</a:t>
                      </a:r>
                    </a:p>
                  </a:txBody>
                  <a:tcPr marL="80096" marR="80096" marT="40048" marB="400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AUTHOR</a:t>
                      </a:r>
                    </a:p>
                  </a:txBody>
                  <a:tcPr marL="80096" marR="80096" marT="40048" marB="400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CONTRIBUTION</a:t>
                      </a:r>
                    </a:p>
                  </a:txBody>
                  <a:tcPr marL="80096" marR="80096" marT="40048" marB="400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LIMITATION</a:t>
                      </a:r>
                    </a:p>
                  </a:txBody>
                  <a:tcPr marL="80096" marR="80096" marT="40048" marB="40048" anchor="ctr"/>
                </a:tc>
                <a:extLst>
                  <a:ext uri="{0D108BD9-81ED-4DB2-BD59-A6C34878D82A}">
                    <a16:rowId xmlns:a16="http://schemas.microsoft.com/office/drawing/2014/main" val="412131262"/>
                  </a:ext>
                </a:extLst>
              </a:tr>
              <a:tr h="17337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2022</a:t>
                      </a:r>
                    </a:p>
                  </a:txBody>
                  <a:tcPr marL="80096" marR="80096" marT="40048" marB="400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Smith Et Al.</a:t>
                      </a:r>
                    </a:p>
                  </a:txBody>
                  <a:tcPr marL="80096" marR="80096" marT="40048" marB="400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Advanced Encryption Improved Secure Cloud Data Protection Significantly.</a:t>
                      </a:r>
                    </a:p>
                  </a:txBody>
                  <a:tcPr marL="80096" marR="80096" marT="40048" marB="400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Complex Key Management Increased Implementation Difficulty.</a:t>
                      </a:r>
                    </a:p>
                  </a:txBody>
                  <a:tcPr marL="80096" marR="80096" marT="40048" marB="40048" anchor="ctr"/>
                </a:tc>
                <a:extLst>
                  <a:ext uri="{0D108BD9-81ED-4DB2-BD59-A6C34878D82A}">
                    <a16:rowId xmlns:a16="http://schemas.microsoft.com/office/drawing/2014/main" val="1976936795"/>
                  </a:ext>
                </a:extLst>
              </a:tr>
              <a:tr h="17337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2023</a:t>
                      </a:r>
                    </a:p>
                  </a:txBody>
                  <a:tcPr marL="80096" marR="80096" marT="40048" marB="400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Johnson Et Al.</a:t>
                      </a:r>
                    </a:p>
                  </a:txBody>
                  <a:tcPr marL="80096" marR="80096" marT="40048" marB="400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Multi-Factor Authentication Reduced Unauthorized Cloud Access Attempts.</a:t>
                      </a:r>
                    </a:p>
                  </a:txBody>
                  <a:tcPr marL="80096" marR="80096" marT="40048" marB="400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Increased Authentication Time For End Users.</a:t>
                      </a:r>
                    </a:p>
                  </a:txBody>
                  <a:tcPr marL="80096" marR="80096" marT="40048" marB="40048" anchor="ctr"/>
                </a:tc>
                <a:extLst>
                  <a:ext uri="{0D108BD9-81ED-4DB2-BD59-A6C34878D82A}">
                    <a16:rowId xmlns:a16="http://schemas.microsoft.com/office/drawing/2014/main" val="4131845556"/>
                  </a:ext>
                </a:extLst>
              </a:tr>
              <a:tr h="17098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2024</a:t>
                      </a:r>
                    </a:p>
                  </a:txBody>
                  <a:tcPr marL="80096" marR="80096" marT="40048" marB="400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Lee Et Al.</a:t>
                      </a:r>
                    </a:p>
                  </a:txBody>
                  <a:tcPr marL="80096" marR="80096" marT="40048" marB="400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AI-Based Monitoring Enhanced Real-Time Cloud Threat Detection Accuracy.</a:t>
                      </a:r>
                    </a:p>
                  </a:txBody>
                  <a:tcPr marL="80096" marR="80096" marT="40048" marB="400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Required High Computational Resources And Continuous Training.</a:t>
                      </a:r>
                    </a:p>
                  </a:txBody>
                  <a:tcPr marL="80096" marR="80096" marT="40048" marB="40048" anchor="ctr"/>
                </a:tc>
                <a:extLst>
                  <a:ext uri="{0D108BD9-81ED-4DB2-BD59-A6C34878D82A}">
                    <a16:rowId xmlns:a16="http://schemas.microsoft.com/office/drawing/2014/main" val="911684368"/>
                  </a:ext>
                </a:extLst>
              </a:tr>
              <a:tr h="17337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2025</a:t>
                      </a:r>
                    </a:p>
                  </a:txBody>
                  <a:tcPr marL="80096" marR="80096" marT="40048" marB="400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Kumar Et Al.</a:t>
                      </a:r>
                    </a:p>
                  </a:txBody>
                  <a:tcPr marL="80096" marR="80096" marT="40048" marB="400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Zero Trust Architecture Strengthened Cloud Security Against Modern Attacks.</a:t>
                      </a:r>
                    </a:p>
                  </a:txBody>
                  <a:tcPr marL="80096" marR="80096" marT="40048" marB="400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Deployment Complexity Increased Organizational Implementation Costs.</a:t>
                      </a:r>
                    </a:p>
                  </a:txBody>
                  <a:tcPr marL="80096" marR="80096" marT="40048" marB="40048" anchor="ctr"/>
                </a:tc>
                <a:extLst>
                  <a:ext uri="{0D108BD9-81ED-4DB2-BD59-A6C34878D82A}">
                    <a16:rowId xmlns:a16="http://schemas.microsoft.com/office/drawing/2014/main" val="17830262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92904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7">
            <a:extLst>
              <a:ext uri="{FF2B5EF4-FFF2-40B4-BE49-F238E27FC236}">
                <a16:creationId xmlns:a16="http://schemas.microsoft.com/office/drawing/2014/main" id="{F969B5C8-FB5B-9C52-8B7E-7E3013ACB6B1}"/>
              </a:ext>
            </a:extLst>
          </p:cNvPr>
          <p:cNvSpPr/>
          <p:nvPr/>
        </p:nvSpPr>
        <p:spPr>
          <a:xfrm>
            <a:off x="-838200" y="104049"/>
            <a:ext cx="3254529" cy="1627264"/>
          </a:xfrm>
          <a:custGeom>
            <a:avLst/>
            <a:gdLst/>
            <a:ahLst/>
            <a:cxnLst/>
            <a:rect l="l" t="t" r="r" b="b"/>
            <a:pathLst>
              <a:path w="3254529" h="1627264">
                <a:moveTo>
                  <a:pt x="0" y="0"/>
                </a:moveTo>
                <a:lnTo>
                  <a:pt x="3254528" y="0"/>
                </a:lnTo>
                <a:lnTo>
                  <a:pt x="3254528" y="1627264"/>
                </a:lnTo>
                <a:lnTo>
                  <a:pt x="0" y="16272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8">
            <a:extLst>
              <a:ext uri="{FF2B5EF4-FFF2-40B4-BE49-F238E27FC236}">
                <a16:creationId xmlns:a16="http://schemas.microsoft.com/office/drawing/2014/main" id="{A042D3C2-E683-B793-33A8-135EAD4C446A}"/>
              </a:ext>
            </a:extLst>
          </p:cNvPr>
          <p:cNvSpPr/>
          <p:nvPr/>
        </p:nvSpPr>
        <p:spPr>
          <a:xfrm>
            <a:off x="16637851" y="24161"/>
            <a:ext cx="1644573" cy="1787041"/>
          </a:xfrm>
          <a:custGeom>
            <a:avLst/>
            <a:gdLst/>
            <a:ahLst/>
            <a:cxnLst/>
            <a:rect l="l" t="t" r="r" b="b"/>
            <a:pathLst>
              <a:path w="1644573" h="1787041">
                <a:moveTo>
                  <a:pt x="0" y="0"/>
                </a:moveTo>
                <a:lnTo>
                  <a:pt x="1644574" y="0"/>
                </a:lnTo>
                <a:lnTo>
                  <a:pt x="1644574" y="1787041"/>
                </a:lnTo>
                <a:lnTo>
                  <a:pt x="0" y="17870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93D015-5089-3C89-032E-927E15CC6779}"/>
              </a:ext>
            </a:extLst>
          </p:cNvPr>
          <p:cNvSpPr txBox="1"/>
          <p:nvPr/>
        </p:nvSpPr>
        <p:spPr>
          <a:xfrm>
            <a:off x="4114800" y="1248399"/>
            <a:ext cx="11125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0" dirty="0">
                <a:latin typeface="Arial Black" panose="020B0A04020102020204" pitchFamily="34" charset="0"/>
              </a:rPr>
              <a:t>PROBLEM STATEMENT</a:t>
            </a:r>
            <a:endParaRPr lang="en-IN" sz="6000" dirty="0">
              <a:latin typeface="Arial Black" panose="020B0A040201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A0F056-C9F4-8F14-0FDF-703C415B3FCE}"/>
              </a:ext>
            </a:extLst>
          </p:cNvPr>
          <p:cNvSpPr txBox="1"/>
          <p:nvPr/>
        </p:nvSpPr>
        <p:spPr>
          <a:xfrm>
            <a:off x="1447800" y="3390900"/>
            <a:ext cx="15057120" cy="5139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§"/>
            </a:pPr>
            <a:r>
              <a:rPr lang="en-IN" sz="3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Sensitive Cloud Data Faces Increasing Cyber Threats And Attacks. </a:t>
            </a:r>
          </a:p>
          <a:p>
            <a:pPr marL="571500" indent="-571500">
              <a:buFont typeface="Wingdings" panose="05000000000000000000" pitchFamily="2" charset="2"/>
              <a:buChar char="§"/>
            </a:pPr>
            <a:endParaRPr lang="en-IN" sz="36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buFont typeface="Wingdings" panose="05000000000000000000" pitchFamily="2" charset="2"/>
              <a:buChar char="§"/>
            </a:pPr>
            <a:r>
              <a:rPr lang="en-IN" sz="3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Weak Authentication Exposes Systems To Unauthorized User Access. </a:t>
            </a:r>
          </a:p>
          <a:p>
            <a:pPr marL="571500" indent="-571500">
              <a:buFont typeface="Wingdings" panose="05000000000000000000" pitchFamily="2" charset="2"/>
              <a:buChar char="§"/>
            </a:pPr>
            <a:endParaRPr lang="en-IN" sz="36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buFont typeface="Wingdings" panose="05000000000000000000" pitchFamily="2" charset="2"/>
              <a:buChar char="§"/>
            </a:pPr>
            <a:r>
              <a:rPr lang="en-IN" sz="3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Breaches Cause Financial Losses And Privacy Violations. </a:t>
            </a:r>
          </a:p>
          <a:p>
            <a:pPr marL="571500" indent="-571500">
              <a:buFont typeface="Wingdings" panose="05000000000000000000" pitchFamily="2" charset="2"/>
              <a:buChar char="§"/>
            </a:pPr>
            <a:endParaRPr lang="en-IN" sz="36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buFont typeface="Wingdings" panose="05000000000000000000" pitchFamily="2" charset="2"/>
              <a:buChar char="§"/>
            </a:pPr>
            <a:r>
              <a:rPr lang="en-IN" sz="3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Organizations Require Stronger Cloud Security Protection Mechanisms. </a:t>
            </a:r>
          </a:p>
          <a:p>
            <a:pPr marL="571500" indent="-571500">
              <a:buFont typeface="Wingdings" panose="05000000000000000000" pitchFamily="2" charset="2"/>
              <a:buChar char="§"/>
            </a:pP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CD9BB6-CB0E-2B18-C0A4-037ED2E26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7621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9134D57F-4494-FDB7-7498-10E71BE43C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32893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C9E799-D415-F36C-F350-6E05DB3EB429}"/>
              </a:ext>
            </a:extLst>
          </p:cNvPr>
          <p:cNvSpPr txBox="1"/>
          <p:nvPr/>
        </p:nvSpPr>
        <p:spPr>
          <a:xfrm>
            <a:off x="1524000" y="3086100"/>
            <a:ext cx="14603336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lvl="0" indent="-5715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IN" sz="3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Protect Cloud Data From Cyber Threats And Unauthorized Access.</a:t>
            </a:r>
          </a:p>
          <a:p>
            <a:pPr marL="571500" lvl="0" indent="-5715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lang="en-IN" sz="36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lvl="0" indent="-5715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IN" sz="3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Implement Encryption And Multi-Factor Authentication For Enhanced Security. </a:t>
            </a:r>
          </a:p>
          <a:p>
            <a:pPr marL="571500" lvl="0" indent="-5715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lang="en-IN" sz="36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lvl="0" indent="-5715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IN" sz="3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Monitor Cloud Activities To Detect Suspicious </a:t>
            </a:r>
            <a:r>
              <a:rPr lang="en-IN" sz="36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Behavior</a:t>
            </a:r>
            <a:r>
              <a:rPr lang="en-IN" sz="3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Continuously. </a:t>
            </a:r>
          </a:p>
          <a:p>
            <a:pPr marL="571500" lvl="0" indent="-5715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lang="en-IN" sz="36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lvl="0" indent="-5715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IN" sz="3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Improve Availability, Integrity, And Confidentiality Of Cloud Resources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898116-C16F-18EA-190A-2AA19D2B8685}"/>
              </a:ext>
            </a:extLst>
          </p:cNvPr>
          <p:cNvSpPr txBox="1"/>
          <p:nvPr/>
        </p:nvSpPr>
        <p:spPr>
          <a:xfrm>
            <a:off x="6172200" y="876300"/>
            <a:ext cx="8839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0" dirty="0">
                <a:latin typeface="Arial Black" panose="020B0A04020102020204" pitchFamily="34" charset="0"/>
              </a:rPr>
              <a:t>OBJECTIVES</a:t>
            </a:r>
            <a:endParaRPr lang="en-IN" sz="7200" dirty="0">
              <a:latin typeface="Arial Black" panose="020B0A040201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Freeform 11">
            <a:extLst>
              <a:ext uri="{FF2B5EF4-FFF2-40B4-BE49-F238E27FC236}">
                <a16:creationId xmlns:a16="http://schemas.microsoft.com/office/drawing/2014/main" id="{0F7C4F40-ABF2-95DD-875E-4E22A50F8697}"/>
              </a:ext>
            </a:extLst>
          </p:cNvPr>
          <p:cNvSpPr/>
          <p:nvPr/>
        </p:nvSpPr>
        <p:spPr>
          <a:xfrm>
            <a:off x="-457200" y="184666"/>
            <a:ext cx="3254529" cy="1627264"/>
          </a:xfrm>
          <a:custGeom>
            <a:avLst/>
            <a:gdLst/>
            <a:ahLst/>
            <a:cxnLst/>
            <a:rect l="l" t="t" r="r" b="b"/>
            <a:pathLst>
              <a:path w="3254529" h="1627264">
                <a:moveTo>
                  <a:pt x="0" y="0"/>
                </a:moveTo>
                <a:lnTo>
                  <a:pt x="3254528" y="0"/>
                </a:lnTo>
                <a:lnTo>
                  <a:pt x="3254528" y="1627264"/>
                </a:lnTo>
                <a:lnTo>
                  <a:pt x="0" y="16272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Freeform 10">
            <a:extLst>
              <a:ext uri="{FF2B5EF4-FFF2-40B4-BE49-F238E27FC236}">
                <a16:creationId xmlns:a16="http://schemas.microsoft.com/office/drawing/2014/main" id="{57F35C3E-0308-227A-D7AB-5FB32C2C3C3B}"/>
              </a:ext>
            </a:extLst>
          </p:cNvPr>
          <p:cNvSpPr/>
          <p:nvPr/>
        </p:nvSpPr>
        <p:spPr>
          <a:xfrm>
            <a:off x="16306800" y="104777"/>
            <a:ext cx="1644573" cy="1787041"/>
          </a:xfrm>
          <a:custGeom>
            <a:avLst/>
            <a:gdLst/>
            <a:ahLst/>
            <a:cxnLst/>
            <a:rect l="l" t="t" r="r" b="b"/>
            <a:pathLst>
              <a:path w="1644573" h="1787041">
                <a:moveTo>
                  <a:pt x="0" y="0"/>
                </a:moveTo>
                <a:lnTo>
                  <a:pt x="1644574" y="0"/>
                </a:lnTo>
                <a:lnTo>
                  <a:pt x="1644574" y="1787041"/>
                </a:lnTo>
                <a:lnTo>
                  <a:pt x="0" y="17870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95A48B9-FAF1-F29B-05FD-37AAA419B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7649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7">
            <a:extLst>
              <a:ext uri="{FF2B5EF4-FFF2-40B4-BE49-F238E27FC236}">
                <a16:creationId xmlns:a16="http://schemas.microsoft.com/office/drawing/2014/main" id="{761780DF-02C7-1494-358E-213AA6037ACE}"/>
              </a:ext>
            </a:extLst>
          </p:cNvPr>
          <p:cNvSpPr/>
          <p:nvPr/>
        </p:nvSpPr>
        <p:spPr>
          <a:xfrm>
            <a:off x="-838200" y="104049"/>
            <a:ext cx="3254529" cy="1627264"/>
          </a:xfrm>
          <a:custGeom>
            <a:avLst/>
            <a:gdLst/>
            <a:ahLst/>
            <a:cxnLst/>
            <a:rect l="l" t="t" r="r" b="b"/>
            <a:pathLst>
              <a:path w="3254529" h="1627264">
                <a:moveTo>
                  <a:pt x="0" y="0"/>
                </a:moveTo>
                <a:lnTo>
                  <a:pt x="3254528" y="0"/>
                </a:lnTo>
                <a:lnTo>
                  <a:pt x="3254528" y="1627264"/>
                </a:lnTo>
                <a:lnTo>
                  <a:pt x="0" y="16272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8">
            <a:extLst>
              <a:ext uri="{FF2B5EF4-FFF2-40B4-BE49-F238E27FC236}">
                <a16:creationId xmlns:a16="http://schemas.microsoft.com/office/drawing/2014/main" id="{CF5FB739-A84E-0397-A310-AF099E76C098}"/>
              </a:ext>
            </a:extLst>
          </p:cNvPr>
          <p:cNvSpPr/>
          <p:nvPr/>
        </p:nvSpPr>
        <p:spPr>
          <a:xfrm>
            <a:off x="16637851" y="24161"/>
            <a:ext cx="1644573" cy="1787041"/>
          </a:xfrm>
          <a:custGeom>
            <a:avLst/>
            <a:gdLst/>
            <a:ahLst/>
            <a:cxnLst/>
            <a:rect l="l" t="t" r="r" b="b"/>
            <a:pathLst>
              <a:path w="1644573" h="1787041">
                <a:moveTo>
                  <a:pt x="0" y="0"/>
                </a:moveTo>
                <a:lnTo>
                  <a:pt x="1644574" y="0"/>
                </a:lnTo>
                <a:lnTo>
                  <a:pt x="1644574" y="1787041"/>
                </a:lnTo>
                <a:lnTo>
                  <a:pt x="0" y="17870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160901-20C0-7D8E-1E3C-74AF02B26F6C}"/>
              </a:ext>
            </a:extLst>
          </p:cNvPr>
          <p:cNvSpPr txBox="1"/>
          <p:nvPr/>
        </p:nvSpPr>
        <p:spPr>
          <a:xfrm>
            <a:off x="4311200" y="785123"/>
            <a:ext cx="104013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latin typeface="Arial Black" panose="020B0A04020102020204" pitchFamily="34" charset="0"/>
                <a:cs typeface="Times New Roman" panose="02020603050405020304" pitchFamily="18" charset="0"/>
              </a:rPr>
              <a:t>SYSTEM ARCHITECTURE</a:t>
            </a:r>
            <a:endParaRPr lang="en-IN" sz="5400" b="1" dirty="0">
              <a:latin typeface="Arial Black" panose="020B0A040201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1C77A9-4AC2-174C-221B-4E77735F1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CC18923-2FB9-2102-A90D-52AD7F567F8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22" t="28525" r="1042" b="27847"/>
          <a:stretch>
            <a:fillRect/>
          </a:stretch>
        </p:blipFill>
        <p:spPr>
          <a:xfrm>
            <a:off x="609600" y="2324100"/>
            <a:ext cx="17449800" cy="586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5578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0721BC0-998C-13E5-2AA6-F4693CC4FA32}"/>
              </a:ext>
            </a:extLst>
          </p:cNvPr>
          <p:cNvSpPr txBox="1"/>
          <p:nvPr/>
        </p:nvSpPr>
        <p:spPr>
          <a:xfrm>
            <a:off x="4572000" y="1028700"/>
            <a:ext cx="9982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400" dirty="0">
                <a:latin typeface="Arial Black" panose="020B0A04020102020204" pitchFamily="34" charset="0"/>
              </a:rPr>
              <a:t>PROPOSED SYSTEM</a:t>
            </a:r>
            <a:endParaRPr lang="en-IN" sz="5400" b="1" dirty="0">
              <a:latin typeface="Arial Black" panose="020B0A040201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561705-B205-212A-C98E-13387D604151}"/>
              </a:ext>
            </a:extLst>
          </p:cNvPr>
          <p:cNvSpPr txBox="1"/>
          <p:nvPr/>
        </p:nvSpPr>
        <p:spPr>
          <a:xfrm>
            <a:off x="865264" y="3719721"/>
            <a:ext cx="17221200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§"/>
            </a:pPr>
            <a:r>
              <a:rPr lang="en-IN" sz="3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Encrypt Cloud Data Using Advanced Cryptographic Security Techniques. </a:t>
            </a:r>
          </a:p>
          <a:p>
            <a:pPr marL="571500" indent="-571500">
              <a:buFont typeface="Wingdings" panose="05000000000000000000" pitchFamily="2" charset="2"/>
              <a:buChar char="§"/>
            </a:pPr>
            <a:endParaRPr lang="en-IN" sz="36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buFont typeface="Wingdings" panose="05000000000000000000" pitchFamily="2" charset="2"/>
              <a:buChar char="§"/>
            </a:pPr>
            <a:r>
              <a:rPr lang="en-IN" sz="3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Authenticate Users Through Multi-Factor Authentication Mechanisms.</a:t>
            </a:r>
          </a:p>
          <a:p>
            <a:r>
              <a:rPr lang="en-IN" sz="3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571500" indent="-571500">
              <a:buFont typeface="Wingdings" panose="05000000000000000000" pitchFamily="2" charset="2"/>
              <a:buChar char="§"/>
            </a:pPr>
            <a:r>
              <a:rPr lang="en-IN" sz="3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Monitor Cloud Infrastructure With Real-Time Threat Detection Systems. </a:t>
            </a:r>
          </a:p>
          <a:p>
            <a:pPr marL="571500" indent="-571500">
              <a:buFont typeface="Wingdings" panose="05000000000000000000" pitchFamily="2" charset="2"/>
              <a:buChar char="§"/>
            </a:pPr>
            <a:endParaRPr lang="en-IN" sz="36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buFont typeface="Wingdings" panose="05000000000000000000" pitchFamily="2" charset="2"/>
              <a:buChar char="§"/>
            </a:pPr>
            <a:r>
              <a:rPr lang="en-IN" sz="3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Apply Role-Based Access Control For Secure Resource Management</a:t>
            </a:r>
            <a:r>
              <a:rPr lang="en-IN" sz="40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</p:txBody>
      </p:sp>
      <p:sp>
        <p:nvSpPr>
          <p:cNvPr id="4" name="Freeform 8">
            <a:extLst>
              <a:ext uri="{FF2B5EF4-FFF2-40B4-BE49-F238E27FC236}">
                <a16:creationId xmlns:a16="http://schemas.microsoft.com/office/drawing/2014/main" id="{9D04AD4F-FA34-93F3-32BF-50971A089FDC}"/>
              </a:ext>
            </a:extLst>
          </p:cNvPr>
          <p:cNvSpPr/>
          <p:nvPr/>
        </p:nvSpPr>
        <p:spPr>
          <a:xfrm>
            <a:off x="16637851" y="24161"/>
            <a:ext cx="1644573" cy="1787041"/>
          </a:xfrm>
          <a:custGeom>
            <a:avLst/>
            <a:gdLst/>
            <a:ahLst/>
            <a:cxnLst/>
            <a:rect l="l" t="t" r="r" b="b"/>
            <a:pathLst>
              <a:path w="1644573" h="1787041">
                <a:moveTo>
                  <a:pt x="0" y="0"/>
                </a:moveTo>
                <a:lnTo>
                  <a:pt x="1644574" y="0"/>
                </a:lnTo>
                <a:lnTo>
                  <a:pt x="1644574" y="1787041"/>
                </a:lnTo>
                <a:lnTo>
                  <a:pt x="0" y="17870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7">
            <a:extLst>
              <a:ext uri="{FF2B5EF4-FFF2-40B4-BE49-F238E27FC236}">
                <a16:creationId xmlns:a16="http://schemas.microsoft.com/office/drawing/2014/main" id="{BF078CDA-28F9-05F0-6B21-FA92E08808FD}"/>
              </a:ext>
            </a:extLst>
          </p:cNvPr>
          <p:cNvSpPr/>
          <p:nvPr/>
        </p:nvSpPr>
        <p:spPr>
          <a:xfrm>
            <a:off x="-762000" y="104049"/>
            <a:ext cx="3254529" cy="1627264"/>
          </a:xfrm>
          <a:custGeom>
            <a:avLst/>
            <a:gdLst/>
            <a:ahLst/>
            <a:cxnLst/>
            <a:rect l="l" t="t" r="r" b="b"/>
            <a:pathLst>
              <a:path w="3254529" h="1627264">
                <a:moveTo>
                  <a:pt x="0" y="0"/>
                </a:moveTo>
                <a:lnTo>
                  <a:pt x="3254528" y="0"/>
                </a:lnTo>
                <a:lnTo>
                  <a:pt x="3254528" y="1627264"/>
                </a:lnTo>
                <a:lnTo>
                  <a:pt x="0" y="16272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183F98-A0F0-F481-62CF-4175E8833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2223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40F7325-7740-5609-67ED-D551FF9387A9}"/>
              </a:ext>
            </a:extLst>
          </p:cNvPr>
          <p:cNvSpPr txBox="1"/>
          <p:nvPr/>
        </p:nvSpPr>
        <p:spPr>
          <a:xfrm>
            <a:off x="5562600" y="1223747"/>
            <a:ext cx="6629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400" dirty="0">
                <a:latin typeface="Arial Black" panose="020B0A04020102020204" pitchFamily="34" charset="0"/>
              </a:rPr>
              <a:t>ADVANTAGES</a:t>
            </a:r>
            <a:endParaRPr lang="en-IN" sz="5400" b="1" dirty="0">
              <a:latin typeface="Arial Black" panose="020B0A040201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56B731-4856-6957-18C9-62C218F1A851}"/>
              </a:ext>
            </a:extLst>
          </p:cNvPr>
          <p:cNvSpPr txBox="1"/>
          <p:nvPr/>
        </p:nvSpPr>
        <p:spPr>
          <a:xfrm>
            <a:off x="1600200" y="3672374"/>
            <a:ext cx="181356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§"/>
            </a:pPr>
            <a:r>
              <a:rPr lang="en-IN" sz="3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Protects Confidential Cloud Data From Cyber Attacks.</a:t>
            </a:r>
          </a:p>
          <a:p>
            <a:pPr marL="571500" indent="-571500">
              <a:buFont typeface="Wingdings" panose="05000000000000000000" pitchFamily="2" charset="2"/>
              <a:buChar char="§"/>
            </a:pPr>
            <a:endParaRPr lang="en-IN" sz="36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buFont typeface="Wingdings" panose="05000000000000000000" pitchFamily="2" charset="2"/>
              <a:buChar char="§"/>
            </a:pPr>
            <a:r>
              <a:rPr lang="en-IN" sz="3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Prevents Unauthorized Access Using Advanced Authentication Methods.</a:t>
            </a:r>
          </a:p>
          <a:p>
            <a:r>
              <a:rPr lang="en-IN" sz="3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571500" indent="-571500">
              <a:buFont typeface="Wingdings" panose="05000000000000000000" pitchFamily="2" charset="2"/>
              <a:buChar char="§"/>
            </a:pPr>
            <a:r>
              <a:rPr lang="en-IN" sz="3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Enhances Regulatory Compliance And Organizational Security. </a:t>
            </a:r>
          </a:p>
          <a:p>
            <a:pPr marL="571500" indent="-571500">
              <a:buFont typeface="Wingdings" panose="05000000000000000000" pitchFamily="2" charset="2"/>
              <a:buChar char="§"/>
            </a:pPr>
            <a:endParaRPr lang="en-IN" sz="36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buFont typeface="Wingdings" panose="05000000000000000000" pitchFamily="2" charset="2"/>
              <a:buChar char="§"/>
            </a:pPr>
            <a:r>
              <a:rPr lang="en-IN" sz="3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Improves Business Continuity With Reliable Cloud Protection</a:t>
            </a:r>
          </a:p>
        </p:txBody>
      </p:sp>
      <p:sp>
        <p:nvSpPr>
          <p:cNvPr id="8" name="Freeform 10">
            <a:extLst>
              <a:ext uri="{FF2B5EF4-FFF2-40B4-BE49-F238E27FC236}">
                <a16:creationId xmlns:a16="http://schemas.microsoft.com/office/drawing/2014/main" id="{332E9B97-868C-19FC-1799-416E79CDCF17}"/>
              </a:ext>
            </a:extLst>
          </p:cNvPr>
          <p:cNvSpPr/>
          <p:nvPr/>
        </p:nvSpPr>
        <p:spPr>
          <a:xfrm>
            <a:off x="16437013" y="-21740"/>
            <a:ext cx="1644573" cy="1787041"/>
          </a:xfrm>
          <a:custGeom>
            <a:avLst/>
            <a:gdLst/>
            <a:ahLst/>
            <a:cxnLst/>
            <a:rect l="l" t="t" r="r" b="b"/>
            <a:pathLst>
              <a:path w="1644573" h="1787041">
                <a:moveTo>
                  <a:pt x="0" y="0"/>
                </a:moveTo>
                <a:lnTo>
                  <a:pt x="1644574" y="0"/>
                </a:lnTo>
                <a:lnTo>
                  <a:pt x="1644574" y="1787041"/>
                </a:lnTo>
                <a:lnTo>
                  <a:pt x="0" y="17870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0F2AB911-1327-1B91-6FF7-3D92E951B479}"/>
              </a:ext>
            </a:extLst>
          </p:cNvPr>
          <p:cNvSpPr/>
          <p:nvPr/>
        </p:nvSpPr>
        <p:spPr>
          <a:xfrm>
            <a:off x="-598564" y="58148"/>
            <a:ext cx="3254529" cy="1627264"/>
          </a:xfrm>
          <a:custGeom>
            <a:avLst/>
            <a:gdLst/>
            <a:ahLst/>
            <a:cxnLst/>
            <a:rect l="l" t="t" r="r" b="b"/>
            <a:pathLst>
              <a:path w="3254529" h="1627264">
                <a:moveTo>
                  <a:pt x="0" y="0"/>
                </a:moveTo>
                <a:lnTo>
                  <a:pt x="3254528" y="0"/>
                </a:lnTo>
                <a:lnTo>
                  <a:pt x="3254528" y="1627264"/>
                </a:lnTo>
                <a:lnTo>
                  <a:pt x="0" y="16272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E30E97-0D92-1576-02D6-9FBA42242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2134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/>
          <p:cNvSpPr txBox="1"/>
          <p:nvPr/>
        </p:nvSpPr>
        <p:spPr>
          <a:xfrm>
            <a:off x="6011571" y="871780"/>
            <a:ext cx="6546798" cy="10480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9043"/>
              </a:lnSpc>
              <a:spcBef>
                <a:spcPct val="0"/>
              </a:spcBef>
            </a:pPr>
            <a:r>
              <a:rPr lang="en-IN" sz="5400" dirty="0">
                <a:latin typeface="Arial Black" panose="020B0A04020102020204" pitchFamily="34" charset="0"/>
              </a:rPr>
              <a:t>CONCLUSION</a:t>
            </a:r>
            <a:endParaRPr lang="en-US" sz="5400" spc="83" dirty="0">
              <a:solidFill>
                <a:srgbClr val="000000"/>
              </a:solidFill>
              <a:latin typeface="Arial Black" panose="020B0A04020102020204" pitchFamily="34" charset="0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" name="Freeform 9"/>
          <p:cNvSpPr/>
          <p:nvPr/>
        </p:nvSpPr>
        <p:spPr>
          <a:xfrm>
            <a:off x="-598564" y="58148"/>
            <a:ext cx="3254529" cy="1627264"/>
          </a:xfrm>
          <a:custGeom>
            <a:avLst/>
            <a:gdLst/>
            <a:ahLst/>
            <a:cxnLst/>
            <a:rect l="l" t="t" r="r" b="b"/>
            <a:pathLst>
              <a:path w="3254529" h="1627264">
                <a:moveTo>
                  <a:pt x="0" y="0"/>
                </a:moveTo>
                <a:lnTo>
                  <a:pt x="3254528" y="0"/>
                </a:lnTo>
                <a:lnTo>
                  <a:pt x="3254528" y="1627264"/>
                </a:lnTo>
                <a:lnTo>
                  <a:pt x="0" y="16272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Freeform 10"/>
          <p:cNvSpPr/>
          <p:nvPr/>
        </p:nvSpPr>
        <p:spPr>
          <a:xfrm>
            <a:off x="16437013" y="-21740"/>
            <a:ext cx="1644573" cy="1787041"/>
          </a:xfrm>
          <a:custGeom>
            <a:avLst/>
            <a:gdLst/>
            <a:ahLst/>
            <a:cxnLst/>
            <a:rect l="l" t="t" r="r" b="b"/>
            <a:pathLst>
              <a:path w="1644573" h="1787041">
                <a:moveTo>
                  <a:pt x="0" y="0"/>
                </a:moveTo>
                <a:lnTo>
                  <a:pt x="1644574" y="0"/>
                </a:lnTo>
                <a:lnTo>
                  <a:pt x="1644574" y="1787041"/>
                </a:lnTo>
                <a:lnTo>
                  <a:pt x="0" y="17870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5A9242-DE0B-BEAC-FE1D-6906D709E53A}"/>
              </a:ext>
            </a:extLst>
          </p:cNvPr>
          <p:cNvSpPr txBox="1"/>
          <p:nvPr/>
        </p:nvSpPr>
        <p:spPr>
          <a:xfrm>
            <a:off x="1828800" y="2933700"/>
            <a:ext cx="14912340" cy="58910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§"/>
            </a:pPr>
            <a:r>
              <a:rPr lang="en-IN" sz="36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Cloud Security Safeguards Sensitive Organizational Data And Applications. </a:t>
            </a:r>
          </a:p>
          <a:p>
            <a:pPr marL="571500" indent="-571500">
              <a:buFont typeface="Wingdings" panose="05000000000000000000" pitchFamily="2" charset="2"/>
              <a:buChar char="§"/>
            </a:pPr>
            <a:endParaRPr lang="en-IN" sz="36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buFont typeface="Wingdings" panose="05000000000000000000" pitchFamily="2" charset="2"/>
              <a:buChar char="§"/>
            </a:pPr>
            <a:r>
              <a:rPr lang="en-IN" sz="36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Encryption And Authentication Strengthen Overall Cloud Protection. </a:t>
            </a:r>
          </a:p>
          <a:p>
            <a:pPr marL="571500" indent="-571500">
              <a:buFont typeface="Wingdings" panose="05000000000000000000" pitchFamily="2" charset="2"/>
              <a:buChar char="§"/>
            </a:pPr>
            <a:endParaRPr lang="en-IN" sz="36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buFont typeface="Wingdings" panose="05000000000000000000" pitchFamily="2" charset="2"/>
              <a:buChar char="§"/>
            </a:pPr>
            <a:r>
              <a:rPr lang="en-IN" sz="36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Continuous Monitoring Improves Threat Detection And Response Capabilities.</a:t>
            </a:r>
          </a:p>
          <a:p>
            <a:r>
              <a:rPr lang="en-IN" sz="36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571500" indent="-571500">
              <a:buFont typeface="Wingdings" panose="05000000000000000000" pitchFamily="2" charset="2"/>
              <a:buChar char="§"/>
            </a:pPr>
            <a:r>
              <a:rPr lang="en-IN" sz="36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Secure Cloud Environments Enable Reliable Digital Transformation. </a:t>
            </a:r>
          </a:p>
          <a:p>
            <a:pPr algn="just">
              <a:lnSpc>
                <a:spcPct val="150000"/>
              </a:lnSpc>
            </a:pPr>
            <a:endParaRPr lang="en-IN" sz="40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257595B-86E7-5F8D-28C3-0F8A96C6C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6553200" y="692310"/>
            <a:ext cx="5867400" cy="12019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0594"/>
              </a:lnSpc>
              <a:spcBef>
                <a:spcPct val="0"/>
              </a:spcBef>
            </a:pPr>
            <a:r>
              <a:rPr lang="en-US" sz="5400" dirty="0">
                <a:latin typeface="Arial Black" panose="020B0A04020102020204" pitchFamily="34" charset="0"/>
                <a:ea typeface="Times New Roman"/>
                <a:cs typeface="Times New Roman"/>
                <a:sym typeface="Times New Roman"/>
              </a:rPr>
              <a:t>REFERENCE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84640" y="3224269"/>
            <a:ext cx="16094231" cy="432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</a:pPr>
            <a:endParaRPr lang="en-US" sz="260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-598564" y="58148"/>
            <a:ext cx="3254529" cy="1627264"/>
          </a:xfrm>
          <a:custGeom>
            <a:avLst/>
            <a:gdLst/>
            <a:ahLst/>
            <a:cxnLst/>
            <a:rect l="l" t="t" r="r" b="b"/>
            <a:pathLst>
              <a:path w="3254529" h="1627264">
                <a:moveTo>
                  <a:pt x="0" y="0"/>
                </a:moveTo>
                <a:lnTo>
                  <a:pt x="3254528" y="0"/>
                </a:lnTo>
                <a:lnTo>
                  <a:pt x="3254528" y="1627264"/>
                </a:lnTo>
                <a:lnTo>
                  <a:pt x="0" y="16272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/>
          <p:cNvSpPr/>
          <p:nvPr/>
        </p:nvSpPr>
        <p:spPr>
          <a:xfrm>
            <a:off x="16284613" y="206292"/>
            <a:ext cx="1644573" cy="1787041"/>
          </a:xfrm>
          <a:custGeom>
            <a:avLst/>
            <a:gdLst/>
            <a:ahLst/>
            <a:cxnLst/>
            <a:rect l="l" t="t" r="r" b="b"/>
            <a:pathLst>
              <a:path w="1644573" h="1787041">
                <a:moveTo>
                  <a:pt x="0" y="0"/>
                </a:moveTo>
                <a:lnTo>
                  <a:pt x="1644574" y="0"/>
                </a:lnTo>
                <a:lnTo>
                  <a:pt x="1644574" y="1787041"/>
                </a:lnTo>
                <a:lnTo>
                  <a:pt x="0" y="17870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8166E8EF-AF0E-3364-8BAA-833B8E61FD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4900" y="2379702"/>
            <a:ext cx="15925800" cy="72943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71500" indent="-571500">
              <a:buFont typeface="Wingdings" panose="05000000000000000000" pitchFamily="2" charset="2"/>
              <a:buChar char="§"/>
            </a:pPr>
            <a:r>
              <a:rPr lang="en-IN" sz="3600" i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NIST. Security And Privacy Controls For Information Systems And </a:t>
            </a:r>
            <a:r>
              <a:rPr lang="en-IN" sz="3600" i="1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Organizations.National</a:t>
            </a:r>
            <a:r>
              <a:rPr lang="en-IN" sz="3600" i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Institute Of Standards And Technology, 2020.</a:t>
            </a:r>
          </a:p>
          <a:p>
            <a:pPr marL="571500" indent="-571500">
              <a:buFont typeface="Wingdings" panose="05000000000000000000" pitchFamily="2" charset="2"/>
              <a:buChar char="§"/>
            </a:pPr>
            <a:endParaRPr lang="en-IN" sz="3600" i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buFont typeface="Wingdings" panose="05000000000000000000" pitchFamily="2" charset="2"/>
              <a:buChar char="§"/>
            </a:pPr>
            <a:r>
              <a:rPr lang="en-IN" sz="3600" i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Amazon Web Services (AWS). AWS Security Best Practices. AWS Documentation, 2024. </a:t>
            </a:r>
          </a:p>
          <a:p>
            <a:pPr marL="571500" indent="-571500">
              <a:buFont typeface="Wingdings" panose="05000000000000000000" pitchFamily="2" charset="2"/>
              <a:buChar char="§"/>
            </a:pPr>
            <a:endParaRPr lang="en-IN" sz="3600" i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buFont typeface="Wingdings" panose="05000000000000000000" pitchFamily="2" charset="2"/>
              <a:buChar char="§"/>
            </a:pPr>
            <a:r>
              <a:rPr lang="en-IN" sz="3600" i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Microsoft. Azure Security Documentation. Microsoft Learn, 2024. Google Cloud. </a:t>
            </a:r>
          </a:p>
          <a:p>
            <a:pPr marL="571500" indent="-571500">
              <a:buFont typeface="Wingdings" panose="05000000000000000000" pitchFamily="2" charset="2"/>
              <a:buChar char="§"/>
            </a:pPr>
            <a:endParaRPr lang="en-IN" sz="3600" i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buFont typeface="Wingdings" panose="05000000000000000000" pitchFamily="2" charset="2"/>
              <a:buChar char="§"/>
            </a:pPr>
            <a:r>
              <a:rPr lang="en-IN" sz="3600" i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Google Cloud Security Overview. Google Cloud Documentation, 2024.</a:t>
            </a:r>
          </a:p>
          <a:p>
            <a:pPr marL="571500" indent="-571500">
              <a:buFont typeface="Wingdings" panose="05000000000000000000" pitchFamily="2" charset="2"/>
              <a:buChar char="§"/>
            </a:pPr>
            <a:endParaRPr lang="en-IN" sz="3600" i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buFont typeface="Wingdings" panose="05000000000000000000" pitchFamily="2" charset="2"/>
              <a:buChar char="§"/>
            </a:pPr>
            <a:r>
              <a:rPr lang="en-IN" sz="3600" i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CSA (Cloud Security Alliance). Security Guidance For Critical Areas Of Focus In Cloud Computing V5.0. Cloud Security Alliance, 2024.</a:t>
            </a:r>
            <a:endParaRPr lang="en-US" altLang="en-US" sz="3600" i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BDB0265-B8FF-AD4A-F318-7A84CFE76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9"/>
          <p:cNvSpPr/>
          <p:nvPr/>
        </p:nvSpPr>
        <p:spPr>
          <a:xfrm>
            <a:off x="-598564" y="58148"/>
            <a:ext cx="3254529" cy="1627264"/>
          </a:xfrm>
          <a:custGeom>
            <a:avLst/>
            <a:gdLst/>
            <a:ahLst/>
            <a:cxnLst/>
            <a:rect l="l" t="t" r="r" b="b"/>
            <a:pathLst>
              <a:path w="3254529" h="1627264">
                <a:moveTo>
                  <a:pt x="0" y="0"/>
                </a:moveTo>
                <a:lnTo>
                  <a:pt x="3254528" y="0"/>
                </a:lnTo>
                <a:lnTo>
                  <a:pt x="3254528" y="1627264"/>
                </a:lnTo>
                <a:lnTo>
                  <a:pt x="0" y="16272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Freeform 10"/>
          <p:cNvSpPr/>
          <p:nvPr/>
        </p:nvSpPr>
        <p:spPr>
          <a:xfrm>
            <a:off x="16437013" y="-21740"/>
            <a:ext cx="1644573" cy="1787041"/>
          </a:xfrm>
          <a:custGeom>
            <a:avLst/>
            <a:gdLst/>
            <a:ahLst/>
            <a:cxnLst/>
            <a:rect l="l" t="t" r="r" b="b"/>
            <a:pathLst>
              <a:path w="1644573" h="1787041">
                <a:moveTo>
                  <a:pt x="0" y="0"/>
                </a:moveTo>
                <a:lnTo>
                  <a:pt x="1644574" y="0"/>
                </a:lnTo>
                <a:lnTo>
                  <a:pt x="1644574" y="1787041"/>
                </a:lnTo>
                <a:lnTo>
                  <a:pt x="0" y="17870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A3DF85E-9DF7-7110-E339-508D01509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6807253-2098-10A8-B874-7102355234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21740"/>
            <a:ext cx="18288000" cy="1025059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E4ADEA6-569B-77F2-AA68-9E2AEE73D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10725A-E2DE-1342-192C-947F3FA263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9400" y="1465621"/>
            <a:ext cx="12259597" cy="735575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5843516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97E0A228-C590-4D20-B05F-A6BF04A0544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930</TotalTime>
  <Words>462</Words>
  <Application>Microsoft Office PowerPoint</Application>
  <PresentationFormat>Custom</PresentationFormat>
  <Paragraphs>101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Aptos</vt:lpstr>
      <vt:lpstr>Times New Roman</vt:lpstr>
      <vt:lpstr>Arial Black</vt:lpstr>
      <vt:lpstr>Canva Sans</vt:lpstr>
      <vt:lpstr>Arial</vt:lpstr>
      <vt:lpstr>Aptos Display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team 9</dc:title>
  <dc:creator>Reshma B S</dc:creator>
  <cp:lastModifiedBy>Sandheesh H</cp:lastModifiedBy>
  <cp:revision>21</cp:revision>
  <dcterms:created xsi:type="dcterms:W3CDTF">2006-08-16T00:00:00Z</dcterms:created>
  <dcterms:modified xsi:type="dcterms:W3CDTF">2026-07-23T06:04:40Z</dcterms:modified>
  <dc:identifier>DAG7rX9f_jA</dc:identifier>
</cp:coreProperties>
</file>